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3/jSsJYCDQON9ybAyD/t3wZQF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" name="Google Shape;2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0" name="Google Shape;32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4" name="Google Shape;41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4" name="Google Shape;44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14.png"/><Relationship Id="rId6" Type="http://schemas.openxmlformats.org/officeDocument/2006/relationships/image" Target="../media/image3.png"/><Relationship Id="rId7" Type="http://schemas.openxmlformats.org/officeDocument/2006/relationships/image" Target="../media/image15.png"/><Relationship Id="rId8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2.png"/><Relationship Id="rId4" Type="http://schemas.openxmlformats.org/officeDocument/2006/relationships/image" Target="../media/image3.png"/><Relationship Id="rId5" Type="http://schemas.openxmlformats.org/officeDocument/2006/relationships/image" Target="../media/image31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image" Target="../media/image35.png"/><Relationship Id="rId10" Type="http://schemas.openxmlformats.org/officeDocument/2006/relationships/image" Target="../media/image10.png"/><Relationship Id="rId13" Type="http://schemas.openxmlformats.org/officeDocument/2006/relationships/image" Target="../media/image36.png"/><Relationship Id="rId1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7.png"/><Relationship Id="rId14" Type="http://schemas.openxmlformats.org/officeDocument/2006/relationships/image" Target="../media/image41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37.png"/><Relationship Id="rId5" Type="http://schemas.openxmlformats.org/officeDocument/2006/relationships/image" Target="../media/image16.png"/><Relationship Id="rId6" Type="http://schemas.openxmlformats.org/officeDocument/2006/relationships/image" Target="../media/image4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0.png"/><Relationship Id="rId4" Type="http://schemas.openxmlformats.org/officeDocument/2006/relationships/image" Target="../media/image44.png"/><Relationship Id="rId5" Type="http://schemas.openxmlformats.org/officeDocument/2006/relationships/image" Target="../media/image37.png"/><Relationship Id="rId6" Type="http://schemas.openxmlformats.org/officeDocument/2006/relationships/image" Target="../media/image43.png"/><Relationship Id="rId7" Type="http://schemas.openxmlformats.org/officeDocument/2006/relationships/image" Target="../media/image48.png"/><Relationship Id="rId8" Type="http://schemas.openxmlformats.org/officeDocument/2006/relationships/image" Target="../media/image4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7.png"/><Relationship Id="rId4" Type="http://schemas.openxmlformats.org/officeDocument/2006/relationships/image" Target="../media/image54.png"/><Relationship Id="rId5" Type="http://schemas.openxmlformats.org/officeDocument/2006/relationships/image" Target="../media/image56.png"/><Relationship Id="rId6" Type="http://schemas.openxmlformats.org/officeDocument/2006/relationships/image" Target="../media/image5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F3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deck/assets/bg_gradient_dark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548640" y="548640"/>
            <a:ext cx="4114800" cy="365760"/>
          </a:xfrm>
          <a:prstGeom prst="roundRect">
            <a:avLst>
              <a:gd fmla="val 50000" name="adj"/>
            </a:avLst>
          </a:prstGeom>
          <a:solidFill>
            <a:srgbClr val="FFFFFF">
              <a:alpha val="10196"/>
            </a:srgbClr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54864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PROPUESTA DE PROYECTO DE TÍTULO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1920240"/>
            <a:ext cx="74980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mbria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EXPERTIA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9A7"/>
              </a:buClr>
              <a:buSzPts val="2500"/>
              <a:buFont typeface="Calibri"/>
              <a:buNone/>
            </a:pPr>
            <a:r>
              <a:rPr b="0" i="0" lang="en-US" sz="2500" u="none" cap="none" strike="noStrike">
                <a:solidFill>
                  <a:srgbClr val="00C9A7"/>
                </a:solidFill>
                <a:latin typeface="Calibri"/>
                <a:ea typeface="Calibri"/>
                <a:cs typeface="Calibri"/>
                <a:sym typeface="Calibri"/>
              </a:rPr>
              <a:t>Business Management Platform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48640" y="3657600"/>
            <a:ext cx="6035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9DCE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9DCE0"/>
                </a:solidFill>
                <a:latin typeface="Calibri"/>
                <a:ea typeface="Calibri"/>
                <a:cs typeface="Calibri"/>
                <a:sym typeface="Calibri"/>
              </a:rPr>
              <a:t>Plataforma SaaS de reservas y gestión, simple de configurar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9DCE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9DCE0"/>
                </a:solidFill>
                <a:latin typeface="Calibri"/>
                <a:ea typeface="Calibri"/>
                <a:cs typeface="Calibri"/>
                <a:sym typeface="Calibri"/>
              </a:rPr>
              <a:t>para cualquier negocio de servicios.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" name="Google Shape;22;p1"/>
          <p:cNvCxnSpPr/>
          <p:nvPr/>
        </p:nvCxnSpPr>
        <p:spPr>
          <a:xfrm>
            <a:off x="548640" y="4617720"/>
            <a:ext cx="5486400" cy="0"/>
          </a:xfrm>
          <a:prstGeom prst="straightConnector1">
            <a:avLst/>
          </a:prstGeom>
          <a:noFill/>
          <a:ln cap="flat" cmpd="sng" w="9525">
            <a:solidFill>
              <a:srgbClr val="FFFFFF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1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Ingeniería en Informática · Duoc UC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48640" y="50749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CE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9DCE0"/>
                </a:solidFill>
                <a:latin typeface="Calibri"/>
                <a:ea typeface="Calibri"/>
                <a:cs typeface="Calibri"/>
                <a:sym typeface="Calibri"/>
              </a:rPr>
              <a:t>Integrantes:  Maximiliano Díaz  ·  Genesis Cáceres  ·  Alberto Rincón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48640" y="53492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CE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9DCE0"/>
                </a:solidFill>
                <a:latin typeface="Calibri"/>
                <a:ea typeface="Calibri"/>
                <a:cs typeface="Calibri"/>
                <a:sym typeface="Calibri"/>
              </a:rPr>
              <a:t>Profesor guía:  Félix Cifuentes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illustration_dashboard.png" id="26" name="Google Shape;2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03720" y="2331720"/>
            <a:ext cx="5349240" cy="40142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QUIÉNES SOMOS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El Equipo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Equipo de desarrollo y guía académica del proyecto.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860908" y="1965960"/>
            <a:ext cx="3246120" cy="3246120"/>
          </a:xfrm>
          <a:prstGeom prst="roundRect">
            <a:avLst>
              <a:gd fmla="val 3380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981048" y="2377440"/>
            <a:ext cx="1005840" cy="1005840"/>
          </a:xfrm>
          <a:prstGeom prst="ellipse">
            <a:avLst/>
          </a:prstGeom>
          <a:solidFill>
            <a:srgbClr val="0B2E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user_FFFFFF.png" id="37" name="Google Shape;3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2508" y="262890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2"/>
          <p:cNvSpPr/>
          <p:nvPr/>
        </p:nvSpPr>
        <p:spPr>
          <a:xfrm>
            <a:off x="1043788" y="365760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Maximiliano Díaz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1043788" y="4069080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Integrante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1706728" y="4507992"/>
            <a:ext cx="1554480" cy="329184"/>
          </a:xfrm>
          <a:prstGeom prst="roundRect">
            <a:avLst>
              <a:gd fmla="val 50000" name="adj"/>
            </a:avLst>
          </a:prstGeom>
          <a:solidFill>
            <a:srgbClr val="00C9A7">
              <a:alpha val="1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1706728" y="4507992"/>
            <a:ext cx="1554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Jefe de Proyecto</a:t>
            </a:r>
            <a:endParaRPr b="1" sz="1050">
              <a:solidFill>
                <a:srgbClr val="17A39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427068" y="1965960"/>
            <a:ext cx="3246120" cy="3246120"/>
          </a:xfrm>
          <a:prstGeom prst="roundRect">
            <a:avLst>
              <a:gd fmla="val 3380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5547208" y="2377440"/>
            <a:ext cx="1005840" cy="1005840"/>
          </a:xfrm>
          <a:prstGeom prst="ellipse">
            <a:avLst/>
          </a:prstGeom>
          <a:solidFill>
            <a:srgbClr val="0B2E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user_FFFFFF.png" id="44" name="Google Shape;4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98668" y="262890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"/>
          <p:cNvSpPr/>
          <p:nvPr/>
        </p:nvSpPr>
        <p:spPr>
          <a:xfrm>
            <a:off x="4609948" y="365760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Genesis Cáceres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4609948" y="4069080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Integrante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5272888" y="4507992"/>
            <a:ext cx="1554480" cy="329184"/>
          </a:xfrm>
          <a:prstGeom prst="roundRect">
            <a:avLst>
              <a:gd fmla="val 50000" name="adj"/>
            </a:avLst>
          </a:prstGeom>
          <a:solidFill>
            <a:srgbClr val="00C9A7">
              <a:alpha val="1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5272888" y="4507992"/>
            <a:ext cx="1554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Desarrollo </a:t>
            </a:r>
            <a:r>
              <a:rPr b="1" lang="en-US" sz="1050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b="1" i="0" lang="en-US" sz="105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ron</a:t>
            </a:r>
            <a:r>
              <a:rPr b="1" lang="en-US" sz="1050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tend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7993228" y="1965960"/>
            <a:ext cx="3246120" cy="3246120"/>
          </a:xfrm>
          <a:prstGeom prst="roundRect">
            <a:avLst>
              <a:gd fmla="val 3380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9113368" y="2377440"/>
            <a:ext cx="1005840" cy="1005840"/>
          </a:xfrm>
          <a:prstGeom prst="ellipse">
            <a:avLst/>
          </a:prstGeom>
          <a:solidFill>
            <a:srgbClr val="0B2E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user_FFFFFF.png" id="51" name="Google Shape;5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64828" y="262890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2"/>
          <p:cNvSpPr/>
          <p:nvPr/>
        </p:nvSpPr>
        <p:spPr>
          <a:xfrm>
            <a:off x="8176108" y="365760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Alberto Rincón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8176108" y="4069080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Integrante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8839048" y="4507992"/>
            <a:ext cx="1554480" cy="329184"/>
          </a:xfrm>
          <a:prstGeom prst="roundRect">
            <a:avLst>
              <a:gd fmla="val 50000" name="adj"/>
            </a:avLst>
          </a:prstGeom>
          <a:solidFill>
            <a:srgbClr val="00C9A7">
              <a:alpha val="1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8839048" y="4507992"/>
            <a:ext cx="1554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Desarrollo </a:t>
            </a:r>
            <a:r>
              <a:rPr b="1" lang="en-US" sz="1050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860908" y="5532120"/>
            <a:ext cx="10378440" cy="822960"/>
          </a:xfrm>
          <a:prstGeom prst="roundRect">
            <a:avLst>
              <a:gd fmla="val 13333" name="adj"/>
            </a:avLst>
          </a:prstGeom>
          <a:solidFill>
            <a:srgbClr val="0B2E44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1116940" y="5696712"/>
            <a:ext cx="493776" cy="493776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graduation_0B2E44.png" id="58" name="Google Shape;5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5570" y="5805343"/>
            <a:ext cx="276515" cy="27651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2"/>
          <p:cNvSpPr/>
          <p:nvPr/>
        </p:nvSpPr>
        <p:spPr>
          <a:xfrm>
            <a:off x="1775308" y="5641848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Félix Cifuentes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1775308" y="59710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CE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C9DCE0"/>
                </a:solidFill>
                <a:latin typeface="Calibri"/>
                <a:ea typeface="Calibri"/>
                <a:cs typeface="Calibri"/>
                <a:sym typeface="Calibri"/>
              </a:rPr>
              <a:t>Profesor guía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"/>
          <p:cNvSpPr/>
          <p:nvPr/>
        </p:nvSpPr>
        <p:spPr>
          <a:xfrm>
            <a:off x="548640" y="457200"/>
            <a:ext cx="11094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El Problema y el Objetivo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Punto de partida y meta central del proyecto de título.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548640" y="1965960"/>
            <a:ext cx="5364328" cy="3246120"/>
          </a:xfrm>
          <a:prstGeom prst="roundRect">
            <a:avLst>
              <a:gd fmla="val 3380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914400" y="2331720"/>
            <a:ext cx="658368" cy="65836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triangle_warning_FFFFFF.png" id="73" name="Google Shape;7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2408" y="248972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3"/>
          <p:cNvSpPr/>
          <p:nvPr/>
        </p:nvSpPr>
        <p:spPr>
          <a:xfrm>
            <a:off x="1737360" y="2331720"/>
            <a:ext cx="390128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El Problema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914400" y="3246120"/>
            <a:ext cx="4632808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2202B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2202B"/>
                </a:solidFill>
                <a:latin typeface="Calibri"/>
                <a:ea typeface="Calibri"/>
                <a:cs typeface="Calibri"/>
                <a:sym typeface="Calibri"/>
              </a:rPr>
              <a:t>La gestión manual de reservas genera pérdida de clientes, errores en agenda y ausencia de visibilidad operativa para negocios de servicios pequeños y medianos.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6278728" y="1965960"/>
            <a:ext cx="5364328" cy="3246120"/>
          </a:xfrm>
          <a:prstGeom prst="roundRect">
            <a:avLst>
              <a:gd fmla="val 3380" name="adj"/>
            </a:avLst>
          </a:prstGeom>
          <a:solidFill>
            <a:srgbClr val="0B2E44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3"/>
          <p:cNvSpPr/>
          <p:nvPr/>
        </p:nvSpPr>
        <p:spPr>
          <a:xfrm>
            <a:off x="6644488" y="2331720"/>
            <a:ext cx="658368" cy="658368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target_0B2E44.png" id="78" name="Google Shape;7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02496" y="248972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3"/>
          <p:cNvSpPr/>
          <p:nvPr/>
        </p:nvSpPr>
        <p:spPr>
          <a:xfrm>
            <a:off x="7467448" y="2331720"/>
            <a:ext cx="390128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El Objetivo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6644488" y="3246120"/>
            <a:ext cx="4632808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DCEEF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DCEEF0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SaaS de reservas y citas, simple de configurar para cualquier negocio de servicios, sin la complejidad de las alternativas del mercado.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F30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deck/assets/bg_gradient_dark.png" id="88" name="Google Shape;8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5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9A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9A7"/>
                </a:solidFill>
                <a:latin typeface="Calibri"/>
                <a:ea typeface="Calibri"/>
                <a:cs typeface="Calibri"/>
                <a:sym typeface="Calibri"/>
              </a:rPr>
              <a:t>PROPUESTA DE VALOR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Objetivos Especificos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CE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9DCE0"/>
                </a:solidFill>
                <a:latin typeface="Calibri"/>
                <a:ea typeface="Calibri"/>
                <a:cs typeface="Calibri"/>
                <a:sym typeface="Calibri"/>
              </a:rPr>
              <a:t>Los diferenciadores de Expertia</a:t>
            </a:r>
            <a:r>
              <a:rPr lang="en-US">
                <a:solidFill>
                  <a:srgbClr val="C9DCE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134262" y="2158949"/>
            <a:ext cx="3454200" cy="3520500"/>
          </a:xfrm>
          <a:prstGeom prst="roundRect">
            <a:avLst>
              <a:gd fmla="val 3177" name="adj"/>
            </a:avLst>
          </a:prstGeom>
          <a:solidFill>
            <a:srgbClr val="FFFFFF">
              <a:alpha val="7843"/>
            </a:srgbClr>
          </a:solidFill>
          <a:ln cap="flat" cmpd="sng" w="9525">
            <a:solidFill>
              <a:srgbClr val="FFFFFF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8454302" y="2524709"/>
            <a:ext cx="713100" cy="71310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wand_0B2E44.png" id="94" name="Google Shape;9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25478" y="2695885"/>
            <a:ext cx="370881" cy="37088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5"/>
          <p:cNvSpPr/>
          <p:nvPr/>
        </p:nvSpPr>
        <p:spPr>
          <a:xfrm>
            <a:off x="8454302" y="3439109"/>
            <a:ext cx="2814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Cambria"/>
              <a:buNone/>
            </a:pPr>
            <a:r>
              <a:rPr b="1" lang="en-US" sz="18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Incorporar IA al agendamiento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8454302" y="3987749"/>
            <a:ext cx="2814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Reserva mediante lenguaje natural, permitiendo consultar disponibilidad, recomendar y completar una reserva por la plataforma.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4368698" y="2148840"/>
            <a:ext cx="3454298" cy="3520440"/>
          </a:xfrm>
          <a:prstGeom prst="roundRect">
            <a:avLst>
              <a:gd fmla="val 3177" name="adj"/>
            </a:avLst>
          </a:prstGeom>
          <a:solidFill>
            <a:srgbClr val="FFFFFF">
              <a:alpha val="7843"/>
            </a:srgbClr>
          </a:solidFill>
          <a:ln cap="flat" cmpd="sng" w="9525">
            <a:solidFill>
              <a:srgbClr val="FFFFFF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4688738" y="2514600"/>
            <a:ext cx="713100" cy="71310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shield_check_0B2E44.png" id="99" name="Google Shape;99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59914" y="2685776"/>
            <a:ext cx="370881" cy="37088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/>
          <p:nvPr/>
        </p:nvSpPr>
        <p:spPr>
          <a:xfrm>
            <a:off x="4688738" y="3429000"/>
            <a:ext cx="2814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Cambria"/>
              <a:buNone/>
            </a:pPr>
            <a:r>
              <a:rPr b="1" lang="en-US" sz="18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Diseñar un modelo de negocio genérico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4688738" y="3977640"/>
            <a:ext cx="2814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Resolver distintos escenarios profesional individual, recursos compuestos y servicios grupales.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548657" y="2121365"/>
            <a:ext cx="3454200" cy="3520500"/>
          </a:xfrm>
          <a:prstGeom prst="roundRect">
            <a:avLst>
              <a:gd fmla="val 3177" name="adj"/>
            </a:avLst>
          </a:prstGeom>
          <a:solidFill>
            <a:srgbClr val="FFFFFF">
              <a:alpha val="7843"/>
            </a:srgbClr>
          </a:solidFill>
          <a:ln cap="flat" cmpd="sng" w="9525">
            <a:solidFill>
              <a:srgbClr val="FFFFFF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761947" y="2459788"/>
            <a:ext cx="713100" cy="71310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layers_0B2E44.png" id="104" name="Google Shape;104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33122" y="2630964"/>
            <a:ext cx="370881" cy="37088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5"/>
          <p:cNvSpPr/>
          <p:nvPr/>
        </p:nvSpPr>
        <p:spPr>
          <a:xfrm>
            <a:off x="868697" y="3401525"/>
            <a:ext cx="2814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Cambria"/>
              <a:buNone/>
            </a:pPr>
            <a:r>
              <a:rPr b="1" lang="en-US" sz="18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Gestión de Jira y Confluence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868697" y="3950165"/>
            <a:ext cx="2814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Administración, organización y optimización de herramientas para la gestión del proyecto.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C7C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C7CE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C7C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C7CE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MERCADO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Análisis Competitivo: Oportunidad Identificada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El benchmark revela una brecha clara: ningún competidor combina genericidad, simplicidad y transparencia de costos a la vez.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548640" y="2331720"/>
            <a:ext cx="2014057" cy="3291840"/>
          </a:xfrm>
          <a:prstGeom prst="roundRect">
            <a:avLst>
              <a:gd fmla="val 5448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1226485" y="2651760"/>
            <a:ext cx="658368" cy="658368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art_bar_FFFFFF.png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84493" y="280976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/>
          <p:nvPr/>
        </p:nvSpPr>
        <p:spPr>
          <a:xfrm>
            <a:off x="640080" y="3474720"/>
            <a:ext cx="1831177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AgendaPro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4"/>
          <p:cNvCxnSpPr/>
          <p:nvPr/>
        </p:nvCxnSpPr>
        <p:spPr>
          <a:xfrm>
            <a:off x="868680" y="4023360"/>
            <a:ext cx="1373977" cy="0"/>
          </a:xfrm>
          <a:prstGeom prst="straightConnector1">
            <a:avLst/>
          </a:prstGeom>
          <a:noFill/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" name="Google Shape;122;p4"/>
          <p:cNvSpPr/>
          <p:nvPr/>
        </p:nvSpPr>
        <p:spPr>
          <a:xfrm>
            <a:off x="685800" y="4160520"/>
            <a:ext cx="1739737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Precio creciente,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app inestable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2818729" y="2331720"/>
            <a:ext cx="2014057" cy="3291840"/>
          </a:xfrm>
          <a:prstGeom prst="roundRect">
            <a:avLst>
              <a:gd fmla="val 5448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3496574" y="2651760"/>
            <a:ext cx="658368" cy="658368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alendar_FFFFFF.png" id="125" name="Google Shape;125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4582" y="280976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4"/>
          <p:cNvSpPr/>
          <p:nvPr/>
        </p:nvSpPr>
        <p:spPr>
          <a:xfrm>
            <a:off x="2910169" y="3474720"/>
            <a:ext cx="1831177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Calendly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7" name="Google Shape;127;p4"/>
          <p:cNvCxnSpPr/>
          <p:nvPr/>
        </p:nvCxnSpPr>
        <p:spPr>
          <a:xfrm>
            <a:off x="3138769" y="4023360"/>
            <a:ext cx="1373977" cy="0"/>
          </a:xfrm>
          <a:prstGeom prst="straightConnector1">
            <a:avLst/>
          </a:prstGeom>
          <a:noFill/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4"/>
          <p:cNvSpPr/>
          <p:nvPr/>
        </p:nvSpPr>
        <p:spPr>
          <a:xfrm>
            <a:off x="2955889" y="4160520"/>
            <a:ext cx="1739737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No gestiona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recursos físicos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5088819" y="2331720"/>
            <a:ext cx="2014057" cy="3291840"/>
          </a:xfrm>
          <a:prstGeom prst="roundRect">
            <a:avLst>
              <a:gd fmla="val 5448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5766664" y="2651760"/>
            <a:ext cx="658368" cy="658368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gauge_FFFFFF.png" id="131" name="Google Shape;131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24672" y="280976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/>
          <p:nvPr/>
        </p:nvSpPr>
        <p:spPr>
          <a:xfrm>
            <a:off x="5180259" y="3474720"/>
            <a:ext cx="1831177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SimplyBook.me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3" name="Google Shape;133;p4"/>
          <p:cNvCxnSpPr/>
          <p:nvPr/>
        </p:nvCxnSpPr>
        <p:spPr>
          <a:xfrm>
            <a:off x="5408859" y="4023360"/>
            <a:ext cx="1373977" cy="0"/>
          </a:xfrm>
          <a:prstGeom prst="straightConnector1">
            <a:avLst/>
          </a:prstGeom>
          <a:noFill/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4" name="Google Shape;134;p4"/>
          <p:cNvSpPr/>
          <p:nvPr/>
        </p:nvSpPr>
        <p:spPr>
          <a:xfrm>
            <a:off x="5225979" y="4160520"/>
            <a:ext cx="1739737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Alta complejidad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de configuración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7358908" y="2331720"/>
            <a:ext cx="2014057" cy="3291840"/>
          </a:xfrm>
          <a:prstGeom prst="roundRect">
            <a:avLst>
              <a:gd fmla="val 5448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8036753" y="2651760"/>
            <a:ext cx="658368" cy="658368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stethoscope_FFFFFF.png" id="137" name="Google Shape;13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4761" y="280976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4"/>
          <p:cNvSpPr/>
          <p:nvPr/>
        </p:nvSpPr>
        <p:spPr>
          <a:xfrm>
            <a:off x="7450348" y="3474720"/>
            <a:ext cx="1831177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Booksy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4"/>
          <p:cNvCxnSpPr/>
          <p:nvPr/>
        </p:nvCxnSpPr>
        <p:spPr>
          <a:xfrm>
            <a:off x="7678948" y="4023360"/>
            <a:ext cx="1373977" cy="0"/>
          </a:xfrm>
          <a:prstGeom prst="straightConnector1">
            <a:avLst/>
          </a:prstGeom>
          <a:noFill/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4"/>
          <p:cNvSpPr/>
          <p:nvPr/>
        </p:nvSpPr>
        <p:spPr>
          <a:xfrm>
            <a:off x="7496068" y="4160520"/>
            <a:ext cx="1739737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No apto para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salud regulada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9628998" y="2331720"/>
            <a:ext cx="2014057" cy="3291840"/>
          </a:xfrm>
          <a:prstGeom prst="roundRect">
            <a:avLst>
              <a:gd fmla="val 5448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10306842" y="2651760"/>
            <a:ext cx="658368" cy="658368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oins_FFFFFF.png" id="143" name="Google Shape;143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64851" y="2809768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4"/>
          <p:cNvSpPr/>
          <p:nvPr/>
        </p:nvSpPr>
        <p:spPr>
          <a:xfrm>
            <a:off x="9720438" y="3474720"/>
            <a:ext cx="1831177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Fresha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5" name="Google Shape;145;p4"/>
          <p:cNvCxnSpPr/>
          <p:nvPr/>
        </p:nvCxnSpPr>
        <p:spPr>
          <a:xfrm>
            <a:off x="9949038" y="4023360"/>
            <a:ext cx="1373977" cy="0"/>
          </a:xfrm>
          <a:prstGeom prst="straightConnector1">
            <a:avLst/>
          </a:prstGeom>
          <a:noFill/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4"/>
          <p:cNvSpPr/>
          <p:nvPr/>
        </p:nvSpPr>
        <p:spPr>
          <a:xfrm>
            <a:off x="9766158" y="4160520"/>
            <a:ext cx="1739737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Comisiones ocultas,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desconfianza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548640" y="5897880"/>
            <a:ext cx="11094415" cy="566928"/>
          </a:xfrm>
          <a:prstGeom prst="roundRect">
            <a:avLst>
              <a:gd fmla="val 19355" name="adj"/>
            </a:avLst>
          </a:prstGeom>
          <a:solidFill>
            <a:srgbClr val="0B2E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"/>
          <p:cNvSpPr/>
          <p:nvPr/>
        </p:nvSpPr>
        <p:spPr>
          <a:xfrm>
            <a:off x="713232" y="5980176"/>
            <a:ext cx="402336" cy="402336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star_0B2E44.png" id="149" name="Google Shape;149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3758" y="6070702"/>
            <a:ext cx="221285" cy="22128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4"/>
          <p:cNvSpPr/>
          <p:nvPr/>
        </p:nvSpPr>
        <p:spPr>
          <a:xfrm>
            <a:off x="1234440" y="5897880"/>
            <a:ext cx="101800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Oportunidad: un producto genérico, simple y transparente — donde hoy el mercado obliga a elegir solo una de las tres.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Alcance del MVP: 6 Módulos + Asistente IA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Bounded contexts que componen la plataforma en su primera versión.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548640" y="1965960"/>
            <a:ext cx="2602154" cy="1600200"/>
          </a:xfrm>
          <a:prstGeom prst="roundRect">
            <a:avLst>
              <a:gd fmla="val 6857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6"/>
          <p:cNvSpPr/>
          <p:nvPr/>
        </p:nvSpPr>
        <p:spPr>
          <a:xfrm>
            <a:off x="749808" y="2167128"/>
            <a:ext cx="548640" cy="54864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key_FFFFFF.png" id="163" name="Google Shape;16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" y="2290572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6"/>
          <p:cNvSpPr/>
          <p:nvPr/>
        </p:nvSpPr>
        <p:spPr>
          <a:xfrm>
            <a:off x="749808" y="2807208"/>
            <a:ext cx="219981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IAM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749808" y="3099816"/>
            <a:ext cx="219981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Autenticación, autorización y roles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3379394" y="1965960"/>
            <a:ext cx="2602154" cy="1600200"/>
          </a:xfrm>
          <a:prstGeom prst="roundRect">
            <a:avLst>
              <a:gd fmla="val 6857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"/>
          <p:cNvSpPr/>
          <p:nvPr/>
        </p:nvSpPr>
        <p:spPr>
          <a:xfrm>
            <a:off x="3580562" y="2167128"/>
            <a:ext cx="548640" cy="54864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building_FFFFFF.png" id="168" name="Google Shape;16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04006" y="2290572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6"/>
          <p:cNvSpPr/>
          <p:nvPr/>
        </p:nvSpPr>
        <p:spPr>
          <a:xfrm>
            <a:off x="3580562" y="2807208"/>
            <a:ext cx="219981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Tenant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3580562" y="3099816"/>
            <a:ext cx="219981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Gestión del negocio y configuración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6210148" y="1965960"/>
            <a:ext cx="2602154" cy="1600200"/>
          </a:xfrm>
          <a:prstGeom prst="roundRect">
            <a:avLst>
              <a:gd fmla="val 6857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6"/>
          <p:cNvSpPr/>
          <p:nvPr/>
        </p:nvSpPr>
        <p:spPr>
          <a:xfrm>
            <a:off x="6411316" y="2167128"/>
            <a:ext cx="548640" cy="54864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tags_FFFFFF.png" id="173" name="Google Shape;173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34760" y="2290572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6"/>
          <p:cNvSpPr/>
          <p:nvPr/>
        </p:nvSpPr>
        <p:spPr>
          <a:xfrm>
            <a:off x="6411316" y="2807208"/>
            <a:ext cx="219981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Catalog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6411316" y="3099816"/>
            <a:ext cx="219981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Servicios, recursos y modelo genérico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9040901" y="1965960"/>
            <a:ext cx="2602154" cy="1600200"/>
          </a:xfrm>
          <a:prstGeom prst="roundRect">
            <a:avLst>
              <a:gd fmla="val 6857" name="adj"/>
            </a:avLst>
          </a:prstGeom>
          <a:solidFill>
            <a:srgbClr val="0B2E44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"/>
          <p:cNvSpPr/>
          <p:nvPr/>
        </p:nvSpPr>
        <p:spPr>
          <a:xfrm>
            <a:off x="9242069" y="2167128"/>
            <a:ext cx="548640" cy="54864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alendar_check_0B2E44.png" id="178" name="Google Shape;178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365513" y="2290572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"/>
          <p:cNvSpPr/>
          <p:nvPr/>
        </p:nvSpPr>
        <p:spPr>
          <a:xfrm>
            <a:off x="9242069" y="2807208"/>
            <a:ext cx="219981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Booking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9242069" y="3099816"/>
            <a:ext cx="219981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Motor de reservas — núcleo del sistema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548640" y="3794760"/>
            <a:ext cx="2602154" cy="1600200"/>
          </a:xfrm>
          <a:prstGeom prst="roundRect">
            <a:avLst>
              <a:gd fmla="val 6857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"/>
          <p:cNvSpPr/>
          <p:nvPr/>
        </p:nvSpPr>
        <p:spPr>
          <a:xfrm>
            <a:off x="749808" y="3995928"/>
            <a:ext cx="548640" cy="54864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bell_FFFFFF.png" id="183" name="Google Shape;183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3252" y="4119372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6"/>
          <p:cNvSpPr/>
          <p:nvPr/>
        </p:nvSpPr>
        <p:spPr>
          <a:xfrm>
            <a:off x="749808" y="4636008"/>
            <a:ext cx="219981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Notification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749808" y="4928616"/>
            <a:ext cx="219981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Comunicación con clientes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3379394" y="3794760"/>
            <a:ext cx="2602154" cy="1600200"/>
          </a:xfrm>
          <a:prstGeom prst="roundRect">
            <a:avLst>
              <a:gd fmla="val 6857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6"/>
          <p:cNvSpPr/>
          <p:nvPr/>
        </p:nvSpPr>
        <p:spPr>
          <a:xfrm>
            <a:off x="3580562" y="3995928"/>
            <a:ext cx="548640" cy="54864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art_bar_FFFFFF.png" id="188" name="Google Shape;188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704006" y="4119372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6"/>
          <p:cNvSpPr/>
          <p:nvPr/>
        </p:nvSpPr>
        <p:spPr>
          <a:xfrm>
            <a:off x="3580562" y="4636008"/>
            <a:ext cx="219981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Reporting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3580562" y="4928616"/>
            <a:ext cx="219981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Dashboard y reportes operativos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6210148" y="3794760"/>
            <a:ext cx="2602154" cy="1600200"/>
          </a:xfrm>
          <a:prstGeom prst="roundRect">
            <a:avLst>
              <a:gd fmla="val 6857" name="adj"/>
            </a:avLst>
          </a:prstGeom>
          <a:solidFill>
            <a:srgbClr val="0B2E44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6"/>
          <p:cNvSpPr/>
          <p:nvPr/>
        </p:nvSpPr>
        <p:spPr>
          <a:xfrm>
            <a:off x="6411316" y="3995928"/>
            <a:ext cx="548640" cy="54864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robot_0B2E44.png" id="193" name="Google Shape;193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34760" y="4119372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"/>
          <p:cNvSpPr/>
          <p:nvPr/>
        </p:nvSpPr>
        <p:spPr>
          <a:xfrm>
            <a:off x="6411316" y="4636008"/>
            <a:ext cx="219981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Asistente 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6411316" y="4928616"/>
            <a:ext cx="219981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Chatbot de agendamiento en lenguaje natural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9040901" y="3794760"/>
            <a:ext cx="2602154" cy="1600200"/>
          </a:xfrm>
          <a:prstGeom prst="roundRect">
            <a:avLst>
              <a:gd fmla="val 6857" name="adj"/>
            </a:avLst>
          </a:prstGeom>
          <a:solidFill>
            <a:srgbClr val="FFFFFF"/>
          </a:solidFill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6"/>
          <p:cNvSpPr/>
          <p:nvPr/>
        </p:nvSpPr>
        <p:spPr>
          <a:xfrm>
            <a:off x="9223781" y="3941064"/>
            <a:ext cx="223639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7A398"/>
                </a:solidFill>
                <a:latin typeface="Cambria"/>
                <a:ea typeface="Cambria"/>
                <a:cs typeface="Cambria"/>
                <a:sym typeface="Cambria"/>
              </a:rPr>
              <a:t>7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9223781" y="4663440"/>
            <a:ext cx="223639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módulos y servicios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que integran el MVP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Verticales Piloto y Límites del MVP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Dónde se enfoca la primera versión y qué queda explícitamente fuera.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548640" y="2011680"/>
            <a:ext cx="5364328" cy="3931920"/>
          </a:xfrm>
          <a:prstGeom prst="roundRect">
            <a:avLst>
              <a:gd fmla="val 2791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7"/>
          <p:cNvSpPr/>
          <p:nvPr/>
        </p:nvSpPr>
        <p:spPr>
          <a:xfrm>
            <a:off x="914400" y="2331720"/>
            <a:ext cx="4632808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Verticales piloto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914400" y="3063240"/>
            <a:ext cx="566928" cy="566928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scissors_0B2E44.png" id="212" name="Google Shape;21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1959" y="3190799"/>
            <a:ext cx="311810" cy="31181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7"/>
          <p:cNvSpPr/>
          <p:nvPr/>
        </p:nvSpPr>
        <p:spPr>
          <a:xfrm>
            <a:off x="1645920" y="3063240"/>
            <a:ext cx="39012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0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2202B"/>
                </a:solidFill>
                <a:latin typeface="Calibri"/>
                <a:ea typeface="Calibri"/>
                <a:cs typeface="Calibri"/>
                <a:sym typeface="Calibri"/>
              </a:rPr>
              <a:t>Salón de belleza / peluquería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914400" y="4069080"/>
            <a:ext cx="566928" cy="566928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stethoscope_0B2E44.png" id="215" name="Google Shape;215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1959" y="4196639"/>
            <a:ext cx="311810" cy="31181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7"/>
          <p:cNvSpPr/>
          <p:nvPr/>
        </p:nvSpPr>
        <p:spPr>
          <a:xfrm>
            <a:off x="1645920" y="4069080"/>
            <a:ext cx="390128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02B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2202B"/>
                </a:solidFill>
                <a:latin typeface="Calibri"/>
                <a:ea typeface="Calibri"/>
                <a:cs typeface="Calibri"/>
                <a:sym typeface="Calibri"/>
              </a:rPr>
              <a:t>Clínica / consultorio médico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6278728" y="2011680"/>
            <a:ext cx="5364328" cy="3931920"/>
          </a:xfrm>
          <a:prstGeom prst="roundRect">
            <a:avLst>
              <a:gd fmla="val 2791" name="adj"/>
            </a:avLst>
          </a:prstGeom>
          <a:solidFill>
            <a:srgbClr val="0B2E44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7"/>
          <p:cNvSpPr/>
          <p:nvPr/>
        </p:nvSpPr>
        <p:spPr>
          <a:xfrm>
            <a:off x="6644488" y="2331720"/>
            <a:ext cx="4632808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Fuera de alcance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6644488" y="3017520"/>
            <a:ext cx="384048" cy="384048"/>
          </a:xfrm>
          <a:prstGeom prst="ellipse">
            <a:avLst/>
          </a:prstGeom>
          <a:solidFill>
            <a:srgbClr val="133C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ircle_x_FFFFFF.png" id="220" name="Google Shape;22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1297" y="3094330"/>
            <a:ext cx="230429" cy="230429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7"/>
          <p:cNvSpPr/>
          <p:nvPr/>
        </p:nvSpPr>
        <p:spPr>
          <a:xfrm>
            <a:off x="7174840" y="2990088"/>
            <a:ext cx="40841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EF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DCEEF0"/>
                </a:solidFill>
                <a:latin typeface="Calibri"/>
                <a:ea typeface="Calibri"/>
                <a:cs typeface="Calibri"/>
                <a:sym typeface="Calibri"/>
              </a:rPr>
              <a:t>Pagos en línea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6644488" y="3675888"/>
            <a:ext cx="384048" cy="384048"/>
          </a:xfrm>
          <a:prstGeom prst="ellipse">
            <a:avLst/>
          </a:prstGeom>
          <a:solidFill>
            <a:srgbClr val="133C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ircle_x_FFFFFF.png" id="223" name="Google Shape;2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1297" y="3752698"/>
            <a:ext cx="230429" cy="23042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7"/>
          <p:cNvSpPr/>
          <p:nvPr/>
        </p:nvSpPr>
        <p:spPr>
          <a:xfrm>
            <a:off x="7174840" y="3648456"/>
            <a:ext cx="40841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EF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DCEEF0"/>
                </a:solidFill>
                <a:latin typeface="Calibri"/>
                <a:ea typeface="Calibri"/>
                <a:cs typeface="Calibri"/>
                <a:sym typeface="Calibri"/>
              </a:rPr>
              <a:t>Marketplace público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6644488" y="4334256"/>
            <a:ext cx="384048" cy="384048"/>
          </a:xfrm>
          <a:prstGeom prst="ellipse">
            <a:avLst/>
          </a:prstGeom>
          <a:solidFill>
            <a:srgbClr val="133C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ircle_x_FFFFFF.png" id="226" name="Google Shape;226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1297" y="4411066"/>
            <a:ext cx="230429" cy="230429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7"/>
          <p:cNvSpPr/>
          <p:nvPr/>
        </p:nvSpPr>
        <p:spPr>
          <a:xfrm>
            <a:off x="7174840" y="4306824"/>
            <a:ext cx="40841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EF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DCEEF0"/>
                </a:solidFill>
                <a:latin typeface="Calibri"/>
                <a:ea typeface="Calibri"/>
                <a:cs typeface="Calibri"/>
                <a:sym typeface="Calibri"/>
              </a:rPr>
              <a:t>App nativa móvil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6644488" y="4992624"/>
            <a:ext cx="384048" cy="384048"/>
          </a:xfrm>
          <a:prstGeom prst="ellipse">
            <a:avLst/>
          </a:prstGeom>
          <a:solidFill>
            <a:srgbClr val="133C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ircle_x_FFFFFF.png" id="229" name="Google Shape;229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1297" y="5069434"/>
            <a:ext cx="230429" cy="230429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7"/>
          <p:cNvSpPr/>
          <p:nvPr/>
        </p:nvSpPr>
        <p:spPr>
          <a:xfrm>
            <a:off x="7174840" y="4965192"/>
            <a:ext cx="408416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EF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DCEEF0"/>
                </a:solidFill>
                <a:latin typeface="Calibri"/>
                <a:ea typeface="Calibri"/>
                <a:cs typeface="Calibri"/>
                <a:sym typeface="Calibri"/>
              </a:rPr>
              <a:t>Chatbot no reemplaza soporte humano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7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8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INGENIERÍA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Arquitectura: Monolito Modular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Diseño evolutivo con bounded contexts y comunicación controlada.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548650" y="1745750"/>
            <a:ext cx="6309300" cy="4455000"/>
          </a:xfrm>
          <a:prstGeom prst="roundRect">
            <a:avLst>
              <a:gd fmla="val 2791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8"/>
          <p:cNvSpPr/>
          <p:nvPr/>
        </p:nvSpPr>
        <p:spPr>
          <a:xfrm>
            <a:off x="822960" y="1928629"/>
            <a:ext cx="5760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MONOLITO MODULAR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896112" y="2444971"/>
            <a:ext cx="173730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5875">
            <a:solidFill>
              <a:srgbClr val="0F6E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8"/>
          <p:cNvSpPr/>
          <p:nvPr/>
        </p:nvSpPr>
        <p:spPr>
          <a:xfrm>
            <a:off x="1005840" y="2710147"/>
            <a:ext cx="384000" cy="3840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key_FFFFFF.png" id="245" name="Google Shape;24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2251" y="2796558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8"/>
          <p:cNvSpPr/>
          <p:nvPr/>
        </p:nvSpPr>
        <p:spPr>
          <a:xfrm>
            <a:off x="1463040" y="2444971"/>
            <a:ext cx="109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IAM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2834640" y="2444971"/>
            <a:ext cx="173730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5875">
            <a:solidFill>
              <a:srgbClr val="0F6E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2944368" y="2710147"/>
            <a:ext cx="384000" cy="3840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building_FFFFFF.png" id="249" name="Google Shape;24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30779" y="2796558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8"/>
          <p:cNvSpPr/>
          <p:nvPr/>
        </p:nvSpPr>
        <p:spPr>
          <a:xfrm>
            <a:off x="3401568" y="2444971"/>
            <a:ext cx="109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Tenant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4773168" y="2444971"/>
            <a:ext cx="173730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5875">
            <a:solidFill>
              <a:srgbClr val="0F6E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8"/>
          <p:cNvSpPr/>
          <p:nvPr/>
        </p:nvSpPr>
        <p:spPr>
          <a:xfrm>
            <a:off x="4882896" y="2710147"/>
            <a:ext cx="384000" cy="3840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tags_FFFFFF.png" id="253" name="Google Shape;25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69307" y="2796558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8"/>
          <p:cNvSpPr/>
          <p:nvPr/>
        </p:nvSpPr>
        <p:spPr>
          <a:xfrm>
            <a:off x="5340096" y="2444971"/>
            <a:ext cx="109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Catalog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896112" y="3749292"/>
            <a:ext cx="173730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5875">
            <a:solidFill>
              <a:srgbClr val="0F6E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8"/>
          <p:cNvSpPr/>
          <p:nvPr/>
        </p:nvSpPr>
        <p:spPr>
          <a:xfrm>
            <a:off x="1005840" y="4014468"/>
            <a:ext cx="384000" cy="3840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alendar_check_FFFFFF.png" id="257" name="Google Shape;257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92251" y="4100879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8"/>
          <p:cNvSpPr/>
          <p:nvPr/>
        </p:nvSpPr>
        <p:spPr>
          <a:xfrm>
            <a:off x="1463040" y="3749292"/>
            <a:ext cx="109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Booking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2834640" y="3749292"/>
            <a:ext cx="173730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5875">
            <a:solidFill>
              <a:srgbClr val="0F6E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8"/>
          <p:cNvSpPr/>
          <p:nvPr/>
        </p:nvSpPr>
        <p:spPr>
          <a:xfrm>
            <a:off x="2944368" y="4014468"/>
            <a:ext cx="384000" cy="3840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bell_FFFFFF.png" id="261" name="Google Shape;261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030779" y="4100879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8"/>
          <p:cNvSpPr/>
          <p:nvPr/>
        </p:nvSpPr>
        <p:spPr>
          <a:xfrm>
            <a:off x="3401568" y="3749292"/>
            <a:ext cx="109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Notification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4773168" y="3749292"/>
            <a:ext cx="173730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5875">
            <a:solidFill>
              <a:srgbClr val="0F6E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8"/>
          <p:cNvSpPr/>
          <p:nvPr/>
        </p:nvSpPr>
        <p:spPr>
          <a:xfrm>
            <a:off x="4882896" y="4014468"/>
            <a:ext cx="384000" cy="3840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art_bar_FFFFFF.png" id="265" name="Google Shape;265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69307" y="4100879"/>
            <a:ext cx="211226" cy="211226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8"/>
          <p:cNvSpPr/>
          <p:nvPr/>
        </p:nvSpPr>
        <p:spPr>
          <a:xfrm>
            <a:off x="5340096" y="3749292"/>
            <a:ext cx="109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917084" y="5088846"/>
            <a:ext cx="5614500" cy="621900"/>
          </a:xfrm>
          <a:prstGeom prst="roundRect">
            <a:avLst>
              <a:gd fmla="val 14706" name="adj"/>
            </a:avLst>
          </a:prstGeom>
          <a:solidFill>
            <a:srgbClr val="0B2E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8"/>
          <p:cNvSpPr/>
          <p:nvPr/>
        </p:nvSpPr>
        <p:spPr>
          <a:xfrm>
            <a:off x="1026812" y="5198574"/>
            <a:ext cx="402300" cy="40230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robot_0B2E44.png" id="269" name="Google Shape;269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17338" y="5289100"/>
            <a:ext cx="221285" cy="22128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8"/>
          <p:cNvSpPr/>
          <p:nvPr/>
        </p:nvSpPr>
        <p:spPr>
          <a:xfrm>
            <a:off x="1511444" y="5088846"/>
            <a:ext cx="4928700" cy="62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Asistente IA — módulo transversal (consulta Booking, Catalog y Reporting)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7205485" y="4549837"/>
            <a:ext cx="4419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Stack Tecnológico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9607335" y="5080132"/>
            <a:ext cx="438900" cy="438900"/>
          </a:xfrm>
          <a:prstGeom prst="ellipse">
            <a:avLst/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layers_0F6E8C.png" id="273" name="Google Shape;273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703896" y="5176693"/>
            <a:ext cx="245791" cy="245791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8"/>
          <p:cNvSpPr/>
          <p:nvPr/>
        </p:nvSpPr>
        <p:spPr>
          <a:xfrm>
            <a:off x="10174267" y="5034402"/>
            <a:ext cx="1395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10174267" y="5263002"/>
            <a:ext cx="1395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Angular (SPA responsiva)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7194510" y="5089314"/>
            <a:ext cx="438900" cy="438900"/>
          </a:xfrm>
          <a:prstGeom prst="ellipse">
            <a:avLst/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server_0F6E8C.png" id="277" name="Google Shape;277;p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291071" y="5185875"/>
            <a:ext cx="245791" cy="245791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8"/>
          <p:cNvSpPr/>
          <p:nvPr/>
        </p:nvSpPr>
        <p:spPr>
          <a:xfrm>
            <a:off x="7761442" y="5043602"/>
            <a:ext cx="1395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7761442" y="5272202"/>
            <a:ext cx="1395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Django REST Framework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9680760" y="5761996"/>
            <a:ext cx="438900" cy="438900"/>
          </a:xfrm>
          <a:prstGeom prst="ellipse">
            <a:avLst/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database_0F6E8C.png" id="281" name="Google Shape;281;p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777321" y="5858557"/>
            <a:ext cx="245791" cy="245791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8"/>
          <p:cNvSpPr/>
          <p:nvPr/>
        </p:nvSpPr>
        <p:spPr>
          <a:xfrm>
            <a:off x="10247692" y="5716277"/>
            <a:ext cx="1395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Base de datos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10247692" y="5944877"/>
            <a:ext cx="1395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PostgreSQL en AWS RDS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7202797" y="5766028"/>
            <a:ext cx="438900" cy="438900"/>
          </a:xfrm>
          <a:prstGeom prst="ellipse">
            <a:avLst/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ubes_0F6E8C.png" id="285" name="Google Shape;285;p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299358" y="5862589"/>
            <a:ext cx="245791" cy="245791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8"/>
          <p:cNvSpPr/>
          <p:nvPr/>
        </p:nvSpPr>
        <p:spPr>
          <a:xfrm>
            <a:off x="7769730" y="5720302"/>
            <a:ext cx="1521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Infraestructura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7769730" y="5948902"/>
            <a:ext cx="1521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Docker + AWS + CI/CD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548640" y="6226309"/>
            <a:ext cx="182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" name="Google Shape;290;p8" title="expertia_arquitectura_capas_stack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907800" y="1429675"/>
            <a:ext cx="5271311" cy="31787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DIFERENCIADOR TÉCNICO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Modelo Genérico Servicio ↔ Recurso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Un único modelo de datos resuelve tres escenarios de negocio distintos, sin rigidez ni complejidad excesiva.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548640" y="2331720"/>
            <a:ext cx="3454298" cy="3246120"/>
          </a:xfrm>
          <a:prstGeom prst="roundRect">
            <a:avLst>
              <a:gd fmla="val 3380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9"/>
          <p:cNvSpPr/>
          <p:nvPr/>
        </p:nvSpPr>
        <p:spPr>
          <a:xfrm>
            <a:off x="1873453" y="2697480"/>
            <a:ext cx="804672" cy="804672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user_FFFFFF.png" id="301" name="Google Shape;30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6574" y="2890601"/>
            <a:ext cx="418429" cy="418429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9"/>
          <p:cNvSpPr/>
          <p:nvPr/>
        </p:nvSpPr>
        <p:spPr>
          <a:xfrm>
            <a:off x="777240" y="3703320"/>
            <a:ext cx="299709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650"/>
              <a:buFont typeface="Cambria"/>
              <a:buNone/>
            </a:pPr>
            <a:r>
              <a:rPr b="1" i="0" lang="en-US" sz="16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Profesional individual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822960" y="4343400"/>
            <a:ext cx="290565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Peluquería / spa · 1 recurso por servicio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arrow_right_17A398.png" id="304" name="Google Shape;30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57802" y="382676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9"/>
          <p:cNvSpPr/>
          <p:nvPr/>
        </p:nvSpPr>
        <p:spPr>
          <a:xfrm>
            <a:off x="4368698" y="2331720"/>
            <a:ext cx="3454298" cy="3246120"/>
          </a:xfrm>
          <a:prstGeom prst="roundRect">
            <a:avLst>
              <a:gd fmla="val 3380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9"/>
          <p:cNvSpPr/>
          <p:nvPr/>
        </p:nvSpPr>
        <p:spPr>
          <a:xfrm>
            <a:off x="5693512" y="2697480"/>
            <a:ext cx="804672" cy="804672"/>
          </a:xfrm>
          <a:prstGeom prst="ellipse">
            <a:avLst/>
          </a:prstGeom>
          <a:solidFill>
            <a:srgbClr val="0B2E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building_FFFFFF.png" id="307" name="Google Shape;307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86633" y="2890601"/>
            <a:ext cx="418429" cy="418429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9"/>
          <p:cNvSpPr/>
          <p:nvPr/>
        </p:nvSpPr>
        <p:spPr>
          <a:xfrm>
            <a:off x="4597298" y="3703320"/>
            <a:ext cx="299709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650"/>
              <a:buFont typeface="Cambria"/>
              <a:buNone/>
            </a:pPr>
            <a:r>
              <a:rPr b="1" i="0" lang="en-US" sz="16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Recurso compuesto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4643018" y="4343400"/>
            <a:ext cx="290565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Clínica / consultorio · sala + equipo + profesional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arrow_right_17A398.png" id="310" name="Google Shape;31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77861" y="382676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9"/>
          <p:cNvSpPr/>
          <p:nvPr/>
        </p:nvSpPr>
        <p:spPr>
          <a:xfrm>
            <a:off x="8188757" y="2331720"/>
            <a:ext cx="3454298" cy="3246120"/>
          </a:xfrm>
          <a:prstGeom prst="roundRect">
            <a:avLst>
              <a:gd fmla="val 3380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9"/>
          <p:cNvSpPr/>
          <p:nvPr/>
        </p:nvSpPr>
        <p:spPr>
          <a:xfrm>
            <a:off x="9513570" y="2697480"/>
            <a:ext cx="804672" cy="804672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user_group_FFFFFF.png" id="313" name="Google Shape;313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706691" y="2890601"/>
            <a:ext cx="418429" cy="418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9"/>
          <p:cNvSpPr/>
          <p:nvPr/>
        </p:nvSpPr>
        <p:spPr>
          <a:xfrm>
            <a:off x="8417357" y="3703320"/>
            <a:ext cx="299709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650"/>
              <a:buFont typeface="Cambria"/>
              <a:buNone/>
            </a:pPr>
            <a:r>
              <a:rPr b="1" i="0" lang="en-US" sz="16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Servicio grupal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8463077" y="4343400"/>
            <a:ext cx="290565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Gimnasio / clases · N reservas con cupo máximo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INNOVACIÓN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0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Asistente Virtual: Chatbot de Agendamiento con IA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0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El cliente reserva conversando en lenguaje natural — sin navegar la plataforma.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illustration_chat.png" id="326" name="Google Shape;32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920240"/>
            <a:ext cx="3209544" cy="356616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10"/>
          <p:cNvSpPr/>
          <p:nvPr/>
        </p:nvSpPr>
        <p:spPr>
          <a:xfrm>
            <a:off x="4434840" y="1920240"/>
            <a:ext cx="1596314" cy="1188720"/>
          </a:xfrm>
          <a:prstGeom prst="roundRect">
            <a:avLst>
              <a:gd fmla="val 9231" name="adj"/>
            </a:avLst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0"/>
          <p:cNvSpPr/>
          <p:nvPr/>
        </p:nvSpPr>
        <p:spPr>
          <a:xfrm>
            <a:off x="4995253" y="2084832"/>
            <a:ext cx="475488" cy="475488"/>
          </a:xfrm>
          <a:prstGeom prst="ellipse">
            <a:avLst/>
          </a:prstGeom>
          <a:solidFill>
            <a:srgbClr val="17A39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message_question_FFFFFF.png" id="329" name="Google Shape;329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2238" y="2191817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10"/>
          <p:cNvSpPr/>
          <p:nvPr/>
        </p:nvSpPr>
        <p:spPr>
          <a:xfrm>
            <a:off x="4507992" y="2606040"/>
            <a:ext cx="14500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Consulta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arrow_right_5B7480.png" id="331" name="Google Shape;331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49442" y="240487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10"/>
          <p:cNvSpPr/>
          <p:nvPr/>
        </p:nvSpPr>
        <p:spPr>
          <a:xfrm>
            <a:off x="6305474" y="1920240"/>
            <a:ext cx="1596314" cy="1188720"/>
          </a:xfrm>
          <a:prstGeom prst="roundRect">
            <a:avLst>
              <a:gd fmla="val 9231" name="adj"/>
            </a:avLst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0"/>
          <p:cNvSpPr/>
          <p:nvPr/>
        </p:nvSpPr>
        <p:spPr>
          <a:xfrm>
            <a:off x="6865887" y="2084832"/>
            <a:ext cx="475488" cy="475488"/>
          </a:xfrm>
          <a:prstGeom prst="ellipse">
            <a:avLst/>
          </a:prstGeom>
          <a:solidFill>
            <a:srgbClr val="17A39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brain_FFFFFF.png" id="334" name="Google Shape;334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972872" y="2191817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10"/>
          <p:cNvSpPr/>
          <p:nvPr/>
        </p:nvSpPr>
        <p:spPr>
          <a:xfrm>
            <a:off x="6378626" y="2606040"/>
            <a:ext cx="14500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Interpretación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arrow_right_5B7480.png" id="336" name="Google Shape;33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20076" y="240487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0"/>
          <p:cNvSpPr/>
          <p:nvPr/>
        </p:nvSpPr>
        <p:spPr>
          <a:xfrm>
            <a:off x="8176108" y="1920240"/>
            <a:ext cx="1596314" cy="1188720"/>
          </a:xfrm>
          <a:prstGeom prst="roundRect">
            <a:avLst>
              <a:gd fmla="val 9231" name="adj"/>
            </a:avLst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0"/>
          <p:cNvSpPr/>
          <p:nvPr/>
        </p:nvSpPr>
        <p:spPr>
          <a:xfrm>
            <a:off x="8736521" y="2084832"/>
            <a:ext cx="475488" cy="475488"/>
          </a:xfrm>
          <a:prstGeom prst="ellipse">
            <a:avLst/>
          </a:prstGeom>
          <a:solidFill>
            <a:srgbClr val="17A39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art_search_FFFFFF.png" id="339" name="Google Shape;339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843505" y="2191817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10"/>
          <p:cNvSpPr/>
          <p:nvPr/>
        </p:nvSpPr>
        <p:spPr>
          <a:xfrm>
            <a:off x="8249260" y="2606040"/>
            <a:ext cx="14500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Consulta Módulos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arrow_right_5B7480.png" id="341" name="Google Shape;341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90709" y="240487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0"/>
          <p:cNvSpPr/>
          <p:nvPr/>
        </p:nvSpPr>
        <p:spPr>
          <a:xfrm>
            <a:off x="10046741" y="1920240"/>
            <a:ext cx="1596314" cy="1188720"/>
          </a:xfrm>
          <a:prstGeom prst="roundRect">
            <a:avLst>
              <a:gd fmla="val 9231" name="adj"/>
            </a:avLst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0"/>
          <p:cNvSpPr/>
          <p:nvPr/>
        </p:nvSpPr>
        <p:spPr>
          <a:xfrm>
            <a:off x="10607154" y="2084832"/>
            <a:ext cx="475488" cy="475488"/>
          </a:xfrm>
          <a:prstGeom prst="ellipse">
            <a:avLst/>
          </a:prstGeom>
          <a:solidFill>
            <a:srgbClr val="17A39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eck_circle_FFFFFF.png" id="344" name="Google Shape;344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714139" y="2191817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10"/>
          <p:cNvSpPr/>
          <p:nvPr/>
        </p:nvSpPr>
        <p:spPr>
          <a:xfrm>
            <a:off x="10119893" y="2606040"/>
            <a:ext cx="14500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B2E44"/>
                </a:solidFill>
                <a:latin typeface="Calibri"/>
                <a:ea typeface="Calibri"/>
                <a:cs typeface="Calibri"/>
                <a:sym typeface="Calibri"/>
              </a:rPr>
              <a:t>Respuesta y Reserva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/>
          <p:nvPr/>
        </p:nvSpPr>
        <p:spPr>
          <a:xfrm>
            <a:off x="4434840" y="3337560"/>
            <a:ext cx="7208215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2202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2202B"/>
                </a:solidFill>
                <a:latin typeface="Calibri"/>
                <a:ea typeface="Calibri"/>
                <a:cs typeface="Calibri"/>
                <a:sym typeface="Calibri"/>
              </a:rPr>
              <a:t>El chatbot resuelve la fricción del agendamiento digital: consulta disponibilidad, recibe recomendaciones por calificación y completa la reserva en conversación natural, integrado con el modelo genérico Servicio↔Recurso.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/>
          <p:nvPr/>
        </p:nvSpPr>
        <p:spPr>
          <a:xfrm>
            <a:off x="4434840" y="4434840"/>
            <a:ext cx="274320" cy="274320"/>
          </a:xfrm>
          <a:prstGeom prst="ellipse">
            <a:avLst/>
          </a:prstGeom>
          <a:solidFill>
            <a:srgbClr val="DFF5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eck_circle_00A183.png" id="348" name="Google Shape;348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69130" y="4469130"/>
            <a:ext cx="205740" cy="20574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10"/>
          <p:cNvSpPr/>
          <p:nvPr/>
        </p:nvSpPr>
        <p:spPr>
          <a:xfrm>
            <a:off x="4818888" y="4389120"/>
            <a:ext cx="68241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02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2202B"/>
                </a:solidFill>
                <a:latin typeface="Calibri"/>
                <a:ea typeface="Calibri"/>
                <a:cs typeface="Calibri"/>
                <a:sym typeface="Calibri"/>
              </a:rPr>
              <a:t>Consultas de disponibilidad en lenguaje natural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4434840" y="4855464"/>
            <a:ext cx="274320" cy="274320"/>
          </a:xfrm>
          <a:prstGeom prst="ellipse">
            <a:avLst/>
          </a:prstGeom>
          <a:solidFill>
            <a:srgbClr val="DFF5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eck_circle_00A183.png" id="351" name="Google Shape;351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69130" y="4889754"/>
            <a:ext cx="205740" cy="20574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10"/>
          <p:cNvSpPr/>
          <p:nvPr/>
        </p:nvSpPr>
        <p:spPr>
          <a:xfrm>
            <a:off x="4818888" y="4809744"/>
            <a:ext cx="68241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02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2202B"/>
                </a:solidFill>
                <a:latin typeface="Calibri"/>
                <a:ea typeface="Calibri"/>
                <a:cs typeface="Calibri"/>
                <a:sym typeface="Calibri"/>
              </a:rPr>
              <a:t>Recomendación de profesionales por calificación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4434840" y="5276088"/>
            <a:ext cx="274320" cy="274320"/>
          </a:xfrm>
          <a:prstGeom prst="ellipse">
            <a:avLst/>
          </a:prstGeom>
          <a:solidFill>
            <a:srgbClr val="DFF5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eck_circle_00A183.png" id="354" name="Google Shape;354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69130" y="5310378"/>
            <a:ext cx="205740" cy="20574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10"/>
          <p:cNvSpPr/>
          <p:nvPr/>
        </p:nvSpPr>
        <p:spPr>
          <a:xfrm>
            <a:off x="4818888" y="5230368"/>
            <a:ext cx="68241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02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2202B"/>
                </a:solidFill>
                <a:latin typeface="Calibri"/>
                <a:ea typeface="Calibri"/>
                <a:cs typeface="Calibri"/>
                <a:sym typeface="Calibri"/>
              </a:rPr>
              <a:t>Guía completa de principio a fin en la reserva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4434840" y="5696712"/>
            <a:ext cx="274320" cy="274320"/>
          </a:xfrm>
          <a:prstGeom prst="ellipse">
            <a:avLst/>
          </a:prstGeom>
          <a:solidFill>
            <a:srgbClr val="DFF5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heck_circle_00A183.png" id="357" name="Google Shape;357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69130" y="5731002"/>
            <a:ext cx="205740" cy="20574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10"/>
          <p:cNvSpPr/>
          <p:nvPr/>
        </p:nvSpPr>
        <p:spPr>
          <a:xfrm>
            <a:off x="4818888" y="5650992"/>
            <a:ext cx="68241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02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2202B"/>
                </a:solidFill>
                <a:latin typeface="Calibri"/>
                <a:ea typeface="Calibri"/>
                <a:cs typeface="Calibri"/>
                <a:sym typeface="Calibri"/>
              </a:rPr>
              <a:t>Respuestas a preguntas frecuentes del negocio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1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EJECUCIÓN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1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Plan de Trabajo: 4 Sprints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1"/>
          <p:cNvSpPr/>
          <p:nvPr/>
        </p:nvSpPr>
        <p:spPr>
          <a:xfrm>
            <a:off x="548640" y="1316736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Alcance obligatorio actualizado, incluyendo el asistente conversacional.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1"/>
          <p:cNvSpPr/>
          <p:nvPr/>
        </p:nvSpPr>
        <p:spPr>
          <a:xfrm>
            <a:off x="548640" y="1920240"/>
            <a:ext cx="2567864" cy="2331720"/>
          </a:xfrm>
          <a:prstGeom prst="roundRect">
            <a:avLst>
              <a:gd fmla="val 4706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1"/>
          <p:cNvSpPr/>
          <p:nvPr/>
        </p:nvSpPr>
        <p:spPr>
          <a:xfrm>
            <a:off x="777240" y="2148840"/>
            <a:ext cx="457200" cy="4572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1"/>
          <p:cNvSpPr/>
          <p:nvPr/>
        </p:nvSpPr>
        <p:spPr>
          <a:xfrm>
            <a:off x="749808" y="2788920"/>
            <a:ext cx="21655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Sprint 1 — Fundacional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1"/>
          <p:cNvSpPr/>
          <p:nvPr/>
        </p:nvSpPr>
        <p:spPr>
          <a:xfrm>
            <a:off x="749808" y="3429000"/>
            <a:ext cx="2165528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IAM + Tenant + Infraestructura AWS + CI/CD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arrow_right_C7D3D6.png" id="374" name="Google Shape;37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936" y="297637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11"/>
          <p:cNvSpPr/>
          <p:nvPr/>
        </p:nvSpPr>
        <p:spPr>
          <a:xfrm>
            <a:off x="3390824" y="1920240"/>
            <a:ext cx="2567864" cy="2331720"/>
          </a:xfrm>
          <a:prstGeom prst="roundRect">
            <a:avLst>
              <a:gd fmla="val 4706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1"/>
          <p:cNvSpPr/>
          <p:nvPr/>
        </p:nvSpPr>
        <p:spPr>
          <a:xfrm>
            <a:off x="3619424" y="2148840"/>
            <a:ext cx="457200" cy="4572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1"/>
          <p:cNvSpPr/>
          <p:nvPr/>
        </p:nvSpPr>
        <p:spPr>
          <a:xfrm>
            <a:off x="3619424" y="2148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3591992" y="2788920"/>
            <a:ext cx="21655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Sprint 2 — Catálogo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1"/>
          <p:cNvSpPr/>
          <p:nvPr/>
        </p:nvSpPr>
        <p:spPr>
          <a:xfrm>
            <a:off x="3591992" y="3429000"/>
            <a:ext cx="2165528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Catalog + modelo genérico Servicio↔Recurso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arrow_right_C7D3D6.png" id="380" name="Google Shape;38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6120" y="297637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11"/>
          <p:cNvSpPr/>
          <p:nvPr/>
        </p:nvSpPr>
        <p:spPr>
          <a:xfrm>
            <a:off x="6233008" y="1920240"/>
            <a:ext cx="2567864" cy="2331720"/>
          </a:xfrm>
          <a:prstGeom prst="roundRect">
            <a:avLst>
              <a:gd fmla="val 4706" name="adj"/>
            </a:avLst>
          </a:prstGeom>
          <a:solidFill>
            <a:srgbClr val="0B2E44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1"/>
          <p:cNvSpPr/>
          <p:nvPr/>
        </p:nvSpPr>
        <p:spPr>
          <a:xfrm>
            <a:off x="6461608" y="2148840"/>
            <a:ext cx="457200" cy="45720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1"/>
          <p:cNvSpPr/>
          <p:nvPr/>
        </p:nvSpPr>
        <p:spPr>
          <a:xfrm>
            <a:off x="6461608" y="2148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6434176" y="2788920"/>
            <a:ext cx="21655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Sprint 3 — Reservas + IA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1"/>
          <p:cNvSpPr/>
          <p:nvPr/>
        </p:nvSpPr>
        <p:spPr>
          <a:xfrm>
            <a:off x="6434176" y="3429000"/>
            <a:ext cx="2165528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Booking + motor de reservas + Chatbot IA (MVP basado en reglas)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deck/assets/arrow_right_C7D3D6.png" id="386" name="Google Shape;38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28303" y="2976372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11"/>
          <p:cNvSpPr/>
          <p:nvPr/>
        </p:nvSpPr>
        <p:spPr>
          <a:xfrm>
            <a:off x="9075191" y="1920240"/>
            <a:ext cx="2567864" cy="2331720"/>
          </a:xfrm>
          <a:prstGeom prst="roundRect">
            <a:avLst>
              <a:gd fmla="val 4706" name="adj"/>
            </a:avLst>
          </a:prstGeom>
          <a:solidFill>
            <a:srgbClr val="F2F6F7"/>
          </a:solidFill>
          <a:ln>
            <a:noFill/>
          </a:ln>
          <a:effectLst>
            <a:outerShdw blurRad="127000" rotWithShape="0" algn="bl" dir="5400000" dist="38100">
              <a:srgbClr val="0B2E44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1"/>
          <p:cNvSpPr/>
          <p:nvPr/>
        </p:nvSpPr>
        <p:spPr>
          <a:xfrm>
            <a:off x="9303791" y="2148840"/>
            <a:ext cx="457200" cy="457200"/>
          </a:xfrm>
          <a:prstGeom prst="ellipse">
            <a:avLst/>
          </a:prstGeom>
          <a:solidFill>
            <a:srgbClr val="0F6E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9303791" y="2148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9276359" y="2788920"/>
            <a:ext cx="21655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Sprint 4 — Cierre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1"/>
          <p:cNvSpPr/>
          <p:nvPr/>
        </p:nvSpPr>
        <p:spPr>
          <a:xfrm>
            <a:off x="9276359" y="3429000"/>
            <a:ext cx="2165528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Notification + Reporting + QA integral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548640" y="4572000"/>
            <a:ext cx="3484778" cy="1417320"/>
          </a:xfrm>
          <a:prstGeom prst="roundRect">
            <a:avLst>
              <a:gd fmla="val 7742" name="adj"/>
            </a:avLst>
          </a:prstGeom>
          <a:solidFill>
            <a:srgbClr val="FFFFFF"/>
          </a:solidFill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777240" y="4846320"/>
            <a:ext cx="566928" cy="566928"/>
          </a:xfrm>
          <a:prstGeom prst="ellipse">
            <a:avLst/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puzzle_0F6E8C.png" id="394" name="Google Shape;39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4799" y="4973879"/>
            <a:ext cx="311810" cy="31181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11"/>
          <p:cNvSpPr/>
          <p:nvPr/>
        </p:nvSpPr>
        <p:spPr>
          <a:xfrm>
            <a:off x="1508760" y="4681728"/>
            <a:ext cx="12801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104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1508760" y="5212080"/>
            <a:ext cx="229605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Story points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1"/>
          <p:cNvSpPr/>
          <p:nvPr/>
        </p:nvSpPr>
        <p:spPr>
          <a:xfrm>
            <a:off x="777240" y="5504688"/>
            <a:ext cx="302757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Alcance obligatorio actualizado con el chatbot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4353458" y="4572000"/>
            <a:ext cx="3484778" cy="1417320"/>
          </a:xfrm>
          <a:prstGeom prst="roundRect">
            <a:avLst>
              <a:gd fmla="val 7742" name="adj"/>
            </a:avLst>
          </a:prstGeom>
          <a:solidFill>
            <a:srgbClr val="FFFFFF"/>
          </a:solidFill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4582058" y="4846320"/>
            <a:ext cx="566928" cy="566928"/>
          </a:xfrm>
          <a:prstGeom prst="ellipse">
            <a:avLst/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clock_0F6E8C.png" id="400" name="Google Shape;400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09617" y="4973879"/>
            <a:ext cx="311810" cy="31181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11"/>
          <p:cNvSpPr/>
          <p:nvPr/>
        </p:nvSpPr>
        <p:spPr>
          <a:xfrm>
            <a:off x="5313578" y="4681728"/>
            <a:ext cx="12801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1"/>
          <p:cNvSpPr/>
          <p:nvPr/>
        </p:nvSpPr>
        <p:spPr>
          <a:xfrm>
            <a:off x="5313578" y="5212080"/>
            <a:ext cx="229605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Semanas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1"/>
          <p:cNvSpPr/>
          <p:nvPr/>
        </p:nvSpPr>
        <p:spPr>
          <a:xfrm>
            <a:off x="4582058" y="5504688"/>
            <a:ext cx="302757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Plazo de implementación con 3 personas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/>
          <p:nvPr/>
        </p:nvSpPr>
        <p:spPr>
          <a:xfrm>
            <a:off x="8158277" y="4572000"/>
            <a:ext cx="3484778" cy="1417320"/>
          </a:xfrm>
          <a:prstGeom prst="roundRect">
            <a:avLst>
              <a:gd fmla="val 7742" name="adj"/>
            </a:avLst>
          </a:prstGeom>
          <a:solidFill>
            <a:srgbClr val="FFFFFF"/>
          </a:solidFill>
          <a:ln cap="flat" cmpd="sng" w="12700">
            <a:solidFill>
              <a:srgbClr val="E4EB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1"/>
          <p:cNvSpPr/>
          <p:nvPr/>
        </p:nvSpPr>
        <p:spPr>
          <a:xfrm>
            <a:off x="8386877" y="4846320"/>
            <a:ext cx="566928" cy="566928"/>
          </a:xfrm>
          <a:prstGeom prst="ellipse">
            <a:avLst/>
          </a:prstGeom>
          <a:solidFill>
            <a:srgbClr val="F2F6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users_0F6E8C.png" id="406" name="Google Shape;406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14436" y="4973879"/>
            <a:ext cx="311810" cy="31181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11"/>
          <p:cNvSpPr/>
          <p:nvPr/>
        </p:nvSpPr>
        <p:spPr>
          <a:xfrm>
            <a:off x="9118397" y="4681728"/>
            <a:ext cx="12801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1"/>
          <p:cNvSpPr/>
          <p:nvPr/>
        </p:nvSpPr>
        <p:spPr>
          <a:xfrm>
            <a:off x="9118397" y="5212080"/>
            <a:ext cx="229605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A39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7A398"/>
                </a:solidFill>
                <a:latin typeface="Calibri"/>
                <a:ea typeface="Calibri"/>
                <a:cs typeface="Calibri"/>
                <a:sym typeface="Calibri"/>
              </a:rPr>
              <a:t>Integrantes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/>
          <p:nvPr/>
        </p:nvSpPr>
        <p:spPr>
          <a:xfrm>
            <a:off x="8386877" y="5504688"/>
            <a:ext cx="302757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Equipo de desarrollo completo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1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1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4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7480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F30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deck/assets/bg_gradient_dark.png" id="417" name="Google Shape;41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12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9A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9A7"/>
                </a:solidFill>
                <a:latin typeface="Calibri"/>
                <a:ea typeface="Calibri"/>
                <a:cs typeface="Calibri"/>
                <a:sym typeface="Calibri"/>
              </a:rPr>
              <a:t>GESTIÓN DE RIESGO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2"/>
          <p:cNvSpPr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Riesgos y Recomendación Estratégica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7843"/>
            </a:srgbClr>
          </a:solidFill>
          <a:ln cap="flat" cmpd="sng" w="12700">
            <a:solidFill>
              <a:srgbClr val="FF6B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2"/>
          <p:cNvSpPr/>
          <p:nvPr/>
        </p:nvSpPr>
        <p:spPr>
          <a:xfrm>
            <a:off x="804672" y="1892808"/>
            <a:ext cx="640080" cy="640080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deck/assets/triangle_warning_FFFFFF.png" id="422" name="Google Shape;42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8291" y="2046427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12"/>
          <p:cNvSpPr/>
          <p:nvPr/>
        </p:nvSpPr>
        <p:spPr>
          <a:xfrm>
            <a:off x="1645920" y="1837944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Riesgo de capacidad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2"/>
          <p:cNvSpPr/>
          <p:nvPr/>
        </p:nvSpPr>
        <p:spPr>
          <a:xfrm>
            <a:off x="1645920" y="2148840"/>
            <a:ext cx="9722815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104 story points en 4 semanas con 3 personas. El chatbot agrega +12 SP al riesgo ya identificado.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548640" y="2926080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9A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9A7"/>
                </a:solidFill>
                <a:latin typeface="Calibri"/>
                <a:ea typeface="Calibri"/>
                <a:cs typeface="Calibri"/>
                <a:sym typeface="Calibri"/>
              </a:rPr>
              <a:t>Recomendación al comité — se propone al profesor guía una de las siguientes opciones: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548640" y="3383280"/>
            <a:ext cx="5364328" cy="1371600"/>
          </a:xfrm>
          <a:prstGeom prst="roundRect">
            <a:avLst>
              <a:gd fmla="val 6667" name="adj"/>
            </a:avLst>
          </a:prstGeom>
          <a:solidFill>
            <a:srgbClr val="FFFFFF">
              <a:alpha val="7843"/>
            </a:srgbClr>
          </a:solidFill>
          <a:ln cap="flat" cmpd="sng" w="9525">
            <a:solidFill>
              <a:srgbClr val="FFFFFF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2"/>
          <p:cNvSpPr/>
          <p:nvPr/>
        </p:nvSpPr>
        <p:spPr>
          <a:xfrm>
            <a:off x="822960" y="3639312"/>
            <a:ext cx="457200" cy="45720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2"/>
          <p:cNvSpPr/>
          <p:nvPr/>
        </p:nvSpPr>
        <p:spPr>
          <a:xfrm>
            <a:off x="822960" y="3639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2"/>
          <p:cNvSpPr/>
          <p:nvPr/>
        </p:nvSpPr>
        <p:spPr>
          <a:xfrm>
            <a:off x="1463040" y="3566160"/>
            <a:ext cx="41756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Chatbot basado en reglas (MVP)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1463040" y="4096512"/>
            <a:ext cx="41756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Intents predefinidos sin LLM. Viable en el plazo actual.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6278728" y="3383280"/>
            <a:ext cx="5364328" cy="1371600"/>
          </a:xfrm>
          <a:prstGeom prst="roundRect">
            <a:avLst>
              <a:gd fmla="val 6667" name="adj"/>
            </a:avLst>
          </a:prstGeom>
          <a:solidFill>
            <a:srgbClr val="FFFFFF">
              <a:alpha val="7843"/>
            </a:srgbClr>
          </a:solidFill>
          <a:ln cap="flat" cmpd="sng" w="9525">
            <a:solidFill>
              <a:srgbClr val="FFFFFF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2"/>
          <p:cNvSpPr/>
          <p:nvPr/>
        </p:nvSpPr>
        <p:spPr>
          <a:xfrm>
            <a:off x="6553048" y="3639312"/>
            <a:ext cx="457200" cy="457200"/>
          </a:xfrm>
          <a:prstGeom prst="ellipse">
            <a:avLst/>
          </a:prstGeom>
          <a:solidFill>
            <a:srgbClr val="17A39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2"/>
          <p:cNvSpPr/>
          <p:nvPr/>
        </p:nvSpPr>
        <p:spPr>
          <a:xfrm>
            <a:off x="6553048" y="3639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E4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B2E44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2"/>
          <p:cNvSpPr/>
          <p:nvPr/>
        </p:nvSpPr>
        <p:spPr>
          <a:xfrm>
            <a:off x="7193128" y="3566160"/>
            <a:ext cx="41756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Chatbot con LLM (Fase 2)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2"/>
          <p:cNvSpPr/>
          <p:nvPr/>
        </p:nvSpPr>
        <p:spPr>
          <a:xfrm>
            <a:off x="7193128" y="4096512"/>
            <a:ext cx="41756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OpenAI / Anthropic post-defensa, con arquitectura ya preparada.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2"/>
          <p:cNvSpPr/>
          <p:nvPr/>
        </p:nvSpPr>
        <p:spPr>
          <a:xfrm>
            <a:off x="548640" y="502920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9A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9A7"/>
                </a:solidFill>
                <a:latin typeface="Calibri"/>
                <a:ea typeface="Calibri"/>
                <a:cs typeface="Calibri"/>
                <a:sym typeface="Calibri"/>
              </a:rPr>
              <a:t>Mitigación primaria: 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2"/>
          <p:cNvSpPr/>
          <p:nvPr/>
        </p:nvSpPr>
        <p:spPr>
          <a:xfrm>
            <a:off x="2468880" y="502920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Chatbot basado en reglas en MVP; LLM como mejora post-defensa.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2"/>
          <p:cNvSpPr/>
          <p:nvPr/>
        </p:nvSpPr>
        <p:spPr>
          <a:xfrm>
            <a:off x="6949440" y="50292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9A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9A7"/>
                </a:solidFill>
                <a:latin typeface="Calibri"/>
                <a:ea typeface="Calibri"/>
                <a:cs typeface="Calibri"/>
                <a:sym typeface="Calibri"/>
              </a:rPr>
              <a:t>Mitigación secundaria: 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/>
          <p:nvPr/>
        </p:nvSpPr>
        <p:spPr>
          <a:xfrm>
            <a:off x="8961120" y="5029200"/>
            <a:ext cx="2681935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E8E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7E8EA"/>
                </a:solidFill>
                <a:latin typeface="Calibri"/>
                <a:ea typeface="Calibri"/>
                <a:cs typeface="Calibri"/>
                <a:sym typeface="Calibri"/>
              </a:rPr>
              <a:t>Servicios grupales y dashboard avanzado, primeros candidatos a recorte.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C7C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C7CE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C7C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C7CE"/>
                </a:solidFill>
                <a:latin typeface="Calibri"/>
                <a:ea typeface="Calibri"/>
                <a:cs typeface="Calibri"/>
                <a:sym typeface="Calibri"/>
              </a:rPr>
              <a:t>EXPERTIA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F30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deck/assets/bg_gradient_dark.png" id="447" name="Google Shape;44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3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600"/>
              <a:buFont typeface="Cambria"/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Gracias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3"/>
          <p:cNvSpPr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9A7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C9A7"/>
                </a:solidFill>
                <a:latin typeface="Calibri"/>
                <a:ea typeface="Calibri"/>
                <a:cs typeface="Calibri"/>
                <a:sym typeface="Calibri"/>
              </a:rPr>
              <a:t>EXPERTIA · Business Management Platform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3"/>
          <p:cNvSpPr/>
          <p:nvPr/>
        </p:nvSpPr>
        <p:spPr>
          <a:xfrm>
            <a:off x="0" y="3840480"/>
            <a:ext cx="121916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DCE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9DCE0"/>
                </a:solidFill>
                <a:latin typeface="Calibri"/>
                <a:ea typeface="Calibri"/>
                <a:cs typeface="Calibri"/>
                <a:sym typeface="Calibri"/>
              </a:rPr>
              <a:t>Preguntas y comentarios son bienvenidos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3"/>
          <p:cNvSpPr/>
          <p:nvPr/>
        </p:nvSpPr>
        <p:spPr>
          <a:xfrm>
            <a:off x="0" y="6126480"/>
            <a:ext cx="12191695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C7C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C7CE"/>
                </a:solidFill>
                <a:latin typeface="Calibri"/>
                <a:ea typeface="Calibri"/>
                <a:cs typeface="Calibri"/>
                <a:sym typeface="Calibri"/>
              </a:rPr>
              <a:t>Maximiliano Díaz   ·   Genesis Cáceres   ·   Alberto Rincón   ·   Profesor guía: Félix Cifuentes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2026-09-07T01:03:09Z</dcterms:created>
  <dc:creator>PptxGenJS</dc:creator>
</cp:coreProperties>
</file>